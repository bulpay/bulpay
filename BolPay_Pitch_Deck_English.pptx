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754880"/>
            <a:ext cx="2560320" cy="2560320"/>
          </a:xfrm>
          <a:prstGeom prst="ellipse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2560320" cy="2560320"/>
          </a:xfrm>
          <a:prstGeom prst="ellipse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BolPay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90672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DDCEE"/>
                </a:solidFill>
                <a:latin typeface="Aptos"/>
              </a:rPr>
              <a:t>Freelance contracts &amp; payroll with on-chain escrow on Stellar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794760"/>
            <a:ext cx="1371600" cy="22860"/>
          </a:xfrm>
          <a:prstGeom prst="rect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Remote work is paid with trust, not guarantees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Informal agreements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Companies and freelancers make deals over email, WhatsApp or Telegram, with nothing enforcing what was agreed.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59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Manual, slow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International payments are processed manually through PayPal or bank transfers: delays, high fees and no traceability.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Payroll without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Remote employees are paid manually and periodically, without auditability or real transparency.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00600"/>
            <a:ext cx="11192256" cy="685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65192"/>
            <a:ext cx="10735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Real-world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22392"/>
            <a:ext cx="10735056" cy="-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Capa Zero manages global freelancers through this same informal model, with payment delays and limited transaction traceability.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A guarantee infrastructure for contracts and payroll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Milestone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Each milestone is released only after the deliverable is approved. Funds are locked in escrow once the contract is accepted.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59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On-chain payroll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Weekly, biweekly or monthly cycles automatically distribute USDC to each contributor, with a verifiable payment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1673351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73351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1673351"/>
            <a:ext cx="2852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Fair disputes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130552"/>
            <a:ext cx="2852928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If an agreement is not fulfilled, payment remains paused until both parties agree on the split. Neither side can release funds unilaterally.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C69C4"/>
                </a:solidFill>
                <a:latin typeface="Aptos"/>
              </a:rPr>
              <a:t>All value moves in USDC, a Stellar-native stablecoin: no volatility and on-chain traceability for every transaction.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From agreement to payment, everything stays on-chain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69C4"/>
                </a:solidFill>
                <a:latin typeface="Aptos"/>
              </a:rPr>
              <a:t>MILESTONE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901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01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901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Contract 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59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The multi-release escrow is deployed.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37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901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01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901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Escrow funded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59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The company funds the escrow with the full amount in USDC.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737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4807" y="1901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901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901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Milestone 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2359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The freelancer delivers and the company approves the milestone.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1737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3456" y="1901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901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1901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On-chain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359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Payment is released on-chain and the transaction hash is recorded.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69C4"/>
                </a:solidFill>
                <a:latin typeface="Aptos"/>
              </a:rPr>
              <a:t>RECURRING PAYROLL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7512" y="4187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187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" y="4187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Define the 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4645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Set the payroll cycle and recipients.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4023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0" y="4187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187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187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Fund escrow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645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The company funds the payroll escrow.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0216" y="4023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64807" y="4187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7" y="4187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4187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Automatic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645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On the scheduled date, each recipient is paid.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98864" y="4023360"/>
            <a:ext cx="260604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63456" y="418795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6" y="418795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9216" y="4187952"/>
            <a:ext cx="1892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Verifiable 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9216" y="4645152"/>
            <a:ext cx="18928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Each payment generates its own transaction hash.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Who we are building BolPay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394960" cy="214884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1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Companies &amp; remote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49377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Startups and tech/Web3 agencies that hire international freelancers and pay fixed remote contributors, such as Capa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08760"/>
            <a:ext cx="5394960" cy="214884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73351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Freelancers &amp; contributors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30552"/>
            <a:ext cx="49377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Professionals who invoice in USD/USDC and want certainty that approved work translates into immediate payment.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11183112" cy="105156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EARLY ADOPTERS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315968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Blockchain startups and development agencies already operating with stablecoins that need to formalize remote contracts and payroll without friction.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What makes BolPay different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1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Truly non-custodial escrow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0552"/>
            <a:ext cx="3108960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Unlike traditional intermediaries, BolPay never holds funds or private keys. Every action is signed from the user's own wallet.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73351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Contracts + payroll in one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30552"/>
            <a:ext cx="3108960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One guarantee infrastructure covers both project-based payments and recurring payroll — together in one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508760"/>
            <a:ext cx="3566160" cy="29718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1673351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Stellar speed &amp;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130552"/>
            <a:ext cx="3108960" cy="2167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Settlement in 3–5 seconds with minimal network fees, suited to frequent and international low-value payments.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A real product, not a mockup</a:t>
            </a:r>
          </a:p>
        </p:txBody>
      </p:sp>
      <p:pic>
        <p:nvPicPr>
          <p:cNvPr id="5" name="Picture 4" descr="bolpay_phone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08760"/>
            <a:ext cx="93726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601675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DCE6F2"/>
                </a:solidFill>
                <a:latin typeface="Aptos"/>
              </a:rPr>
              <a:t>Stellar wallet access (Pollar)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601675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DCE6F2"/>
                </a:solidFill>
                <a:latin typeface="Aptos"/>
              </a:rPr>
              <a:t>Milestone contract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601675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DCE6F2"/>
                </a:solidFill>
                <a:latin typeface="Aptos"/>
              </a:rPr>
              <a:t>Funded escrow &amp; payment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59" y="601675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DCE6F2"/>
                </a:solidFill>
                <a:latin typeface="Aptos"/>
              </a:rPr>
              <a:t>Automatic payroll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◈  BolPay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How BolPay compares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926080" cy="502920"/>
          </a:xfrm>
          <a:prstGeom prst="rect">
            <a:avLst/>
          </a:prstGeom>
          <a:solidFill>
            <a:srgbClr val="0C2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27048"/>
            <a:ext cx="27797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17320"/>
            <a:ext cx="1828800" cy="502920"/>
          </a:xfrm>
          <a:prstGeom prst="rect">
            <a:avLst/>
          </a:prstGeom>
          <a:solidFill>
            <a:srgbClr val="0C2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52704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Upwork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417320"/>
            <a:ext cx="1828800" cy="502920"/>
          </a:xfrm>
          <a:prstGeom prst="rect">
            <a:avLst/>
          </a:prstGeom>
          <a:solidFill>
            <a:srgbClr val="0C2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152704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Deel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1417320"/>
            <a:ext cx="1828800" cy="502920"/>
          </a:xfrm>
          <a:prstGeom prst="rect">
            <a:avLst/>
          </a:prstGeom>
          <a:solidFill>
            <a:srgbClr val="0C224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152704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ArcusX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417320"/>
            <a:ext cx="2286000" cy="502920"/>
          </a:xfrm>
          <a:prstGeom prst="rect">
            <a:avLst/>
          </a:prstGeom>
          <a:solidFill>
            <a:srgbClr val="1C69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527048"/>
            <a:ext cx="2139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BolPay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292608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103120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283A"/>
                </a:solidFill>
                <a:latin typeface="Aptos"/>
              </a:rPr>
              <a:t>On-chain escrow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920240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103120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920240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2103120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920240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103120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1920240"/>
            <a:ext cx="2286000" cy="658368"/>
          </a:xfrm>
          <a:prstGeom prst="rect">
            <a:avLst/>
          </a:prstGeom>
          <a:solidFill>
            <a:srgbClr val="E5EFFB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103120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C2243"/>
                </a:solidFill>
                <a:latin typeface="Aptos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78608"/>
            <a:ext cx="292608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761488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283A"/>
                </a:solidFill>
                <a:latin typeface="Aptos"/>
              </a:rPr>
              <a:t>Integrated payroll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578608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2761488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578608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0952" y="2761488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2578608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2761488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2578608"/>
            <a:ext cx="2286000" cy="658368"/>
          </a:xfrm>
          <a:prstGeom prst="rect">
            <a:avLst/>
          </a:prstGeom>
          <a:solidFill>
            <a:srgbClr val="E5EFFB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2761488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C2243"/>
                </a:solidFill>
                <a:latin typeface="Aptos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36976"/>
            <a:ext cx="292608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419856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283A"/>
                </a:solidFill>
                <a:latin typeface="Aptos"/>
              </a:rPr>
              <a:t>Stablecoin payments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236976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3419856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236976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0952" y="3419856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3236976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9752" y="3419856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Yes (USDC)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3236976"/>
            <a:ext cx="2286000" cy="658368"/>
          </a:xfrm>
          <a:prstGeom prst="rect">
            <a:avLst/>
          </a:prstGeom>
          <a:solidFill>
            <a:srgbClr val="E5EFFB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8552" y="3419856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C2243"/>
                </a:solidFill>
                <a:latin typeface="Aptos"/>
              </a:rPr>
              <a:t>Yes (USDC)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895344"/>
            <a:ext cx="292608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078224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283A"/>
                </a:solidFill>
                <a:latin typeface="Aptos"/>
              </a:rPr>
              <a:t>Structured disputes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29000" y="3895344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02152" y="4078224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3895344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0952" y="4078224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Partial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3895344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9752" y="4078224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3895344"/>
            <a:ext cx="2286000" cy="658368"/>
          </a:xfrm>
          <a:prstGeom prst="rect">
            <a:avLst/>
          </a:prstGeom>
          <a:solidFill>
            <a:srgbClr val="E5EFFB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4078224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C2243"/>
                </a:solidFill>
                <a:latin typeface="Aptos"/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553712"/>
            <a:ext cx="292608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4736592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C283A"/>
                </a:solidFill>
                <a:latin typeface="Aptos"/>
              </a:rPr>
              <a:t>Typical fee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4553712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02152" y="473659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Up to 20%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553712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30952" y="473659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High fixed fee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4553712"/>
            <a:ext cx="1828800" cy="658368"/>
          </a:xfrm>
          <a:prstGeom prst="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59752" y="4736592"/>
            <a:ext cx="1682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C283A"/>
                </a:solidFill>
                <a:latin typeface="Aptos"/>
              </a:rPr>
              <a:t>Not specified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4553712"/>
            <a:ext cx="2286000" cy="658368"/>
          </a:xfrm>
          <a:prstGeom prst="rect">
            <a:avLst/>
          </a:prstGeom>
          <a:solidFill>
            <a:srgbClr val="E5EFFB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4736592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C2243"/>
                </a:solidFill>
                <a:latin typeface="Aptos"/>
              </a:rPr>
              <a:t>1.5%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IMPACT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From a real case to scalable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4937760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• Reduces friction and distrust in remote work between companies and freelancers.
• Gives freelancers payment certainty: approved work is paid without relying on an intermediary.
• Gives companies full traceability for each payment and agreement.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17320"/>
            <a:ext cx="539496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39112"/>
            <a:ext cx="4937760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• The same escrow infrastructure can serve more companies and freelancers without structural changes.
• Monorepo architecture with a shared types package across web, mobile and backend.
• Simulated mode enables full-flow demos and testing before scaling to Mainnet.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17720"/>
            <a:ext cx="2514600" cy="96012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731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E8AA14"/>
                </a:solidFill>
                <a:latin typeface="Aptos"/>
              </a:rPr>
              <a:t>3–5s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ptos"/>
              </a:rPr>
              <a:t>Settlement per 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4617720"/>
            <a:ext cx="2514600" cy="96012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47731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E8AA14"/>
                </a:solidFill>
                <a:latin typeface="Aptos"/>
              </a:rPr>
              <a:t>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5166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ptos"/>
              </a:rPr>
              <a:t>Trustless Work protocol fee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17720"/>
            <a:ext cx="2514600" cy="96012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47731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E8AA14"/>
                </a:solidFill>
                <a:latin typeface="Apto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5166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ptos"/>
              </a:rPr>
              <a:t>Non-custodial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4617720"/>
            <a:ext cx="2514600" cy="96012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47731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E8AA14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5166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Aptos"/>
              </a:rPr>
              <a:t>Clients: web, mobile &amp;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How BolPay generates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581912"/>
            <a:ext cx="256032" cy="256032"/>
          </a:xfrm>
          <a:prstGeom prst="ellipse">
            <a:avLst/>
          </a:prstGeom>
          <a:solidFill>
            <a:srgbClr val="1C6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8191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581912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Transaction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039112"/>
            <a:ext cx="4681728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1.5% on every released payment (milestone or payroll cycle), well below platforms such as Upwork.
Primary revenue is directly tied to the volume of contracts and payroll processed by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5394960" cy="274320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55664" y="1581912"/>
            <a:ext cx="256032" cy="256032"/>
          </a:xfrm>
          <a:prstGeom prst="ellipse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8191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1424" y="1581912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BolPay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2039112"/>
            <a:ext cx="4681728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• Fixed monthly fee for companies with high-volume payroll.
• Reduced transaction fee above a defined volume threshold.
• Recurring, predictable MRR that complements transaction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80560"/>
            <a:ext cx="11183112" cy="1005840"/>
          </a:xfrm>
          <a:prstGeom prst="round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817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COST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64515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Platform development &amp; maintenance  ·  Infrastructure &amp; monitoring  ·  Trustless Work protocol fee (0.3%)  ·  Support &amp; customer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C2243"/>
                </a:solidFill>
                <a:latin typeface="Georgia"/>
              </a:rPr>
              <a:t>An MVP built, tested and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94960" cy="42519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4937760" cy="3447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Web — React (Vite) + TanStack Query
Mobile — Flutter
Backend — NestJS (Node.js + TypeScript) + Prisma
Database — PostgreSQL (Supabase)
Blockchain — Stellar + Soroban
Escrow — Trustless Work (Escrow-as-a-Service)
Auth &amp; wallets — Pollar (social login + custodial wallet)
Transactional email — Resend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17320"/>
            <a:ext cx="5394960" cy="4251960"/>
          </a:xfrm>
          <a:prstGeom prst="roundRect">
            <a:avLst/>
          </a:prstGeom>
          <a:solidFill>
            <a:srgbClr val="F2F7FC"/>
          </a:solidFill>
          <a:ln>
            <a:solidFill>
              <a:srgbClr val="D2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C2243"/>
                </a:solidFill>
                <a:latin typeface="Aptos"/>
              </a:rPr>
              <a:t>CURRENT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39112"/>
            <a:ext cx="4937760" cy="3447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A"/>
                </a:solidFill>
                <a:latin typeface="Aptos"/>
              </a:rPr>
              <a:t>• All modules implemented: authentication, contracts, milestones, escrow, disputes, payroll, notifications and audit.
• Functional tests validated on Stellar Testnet across the three payment flows.
• Backend in production on a hardened Linux server with systemd and monitoring.
• Web continuously integrated and deployed on Vercel.
• Android APK compiled and distributed.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C2243"/>
                </a:solidFill>
                <a:latin typeface="Aptos"/>
              </a:rPr>
              <a:t>◈  BolPay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F6E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822960"/>
            <a:ext cx="2560320" cy="2560320"/>
          </a:xfrm>
          <a:prstGeom prst="ellipse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212080"/>
            <a:ext cx="2377440" cy="2377440"/>
          </a:xfrm>
          <a:prstGeom prst="ellipse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8AA14"/>
                </a:solidFill>
                <a:latin typeface="Aptos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Bring freelance payments on-chain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2240280"/>
          </a:xfrm>
          <a:prstGeom prst="roundRect">
            <a:avLst/>
          </a:prstGeom>
          <a:solidFill>
            <a:srgbClr val="0C2243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993392"/>
            <a:ext cx="256032" cy="256032"/>
          </a:xfrm>
          <a:prstGeom prst="ellipse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993392"/>
            <a:ext cx="1801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Move to Stellar Mainnet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450592"/>
            <a:ext cx="1801368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CE6F2"/>
                </a:solidFill>
                <a:latin typeface="Aptos"/>
              </a:rPr>
              <a:t>Migrate the operation from Testnet to Stellar Mainnet.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828800"/>
            <a:ext cx="2514600" cy="2240280"/>
          </a:xfrm>
          <a:prstGeom prst="roundRect">
            <a:avLst/>
          </a:prstGeom>
          <a:solidFill>
            <a:srgbClr val="0C2243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3864" y="1993392"/>
            <a:ext cx="256032" cy="256032"/>
          </a:xfrm>
          <a:prstGeom prst="ellipse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9933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993392"/>
            <a:ext cx="1801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Add fiat 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2450592"/>
            <a:ext cx="1801368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CE6F2"/>
                </a:solidFill>
                <a:latin typeface="Aptos"/>
              </a:rPr>
              <a:t>Add fiat on/off-ramp entry and exit rails.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828800"/>
            <a:ext cx="2514600" cy="2240280"/>
          </a:xfrm>
          <a:prstGeom prst="roundRect">
            <a:avLst/>
          </a:prstGeom>
          <a:solidFill>
            <a:srgbClr val="0C2243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1993392"/>
            <a:ext cx="256032" cy="256032"/>
          </a:xfrm>
          <a:prstGeom prst="ellipse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9933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1993392"/>
            <a:ext cx="1801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Run pilots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450592"/>
            <a:ext cx="1801368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CE6F2"/>
                </a:solidFill>
                <a:latin typeface="Aptos"/>
              </a:rPr>
              <a:t>Pilot with more Web3 studios and remote agencies.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1828800"/>
            <a:ext cx="2514600" cy="2240280"/>
          </a:xfrm>
          <a:prstGeom prst="roundRect">
            <a:avLst/>
          </a:prstGeom>
          <a:solidFill>
            <a:srgbClr val="0C2243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16568" y="1993392"/>
            <a:ext cx="256032" cy="256032"/>
          </a:xfrm>
          <a:prstGeom prst="ellipse">
            <a:avLst/>
          </a:prstGeom>
          <a:solidFill>
            <a:srgbClr val="E8A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199339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993392"/>
            <a:ext cx="1801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Expand beyond Capa 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450592"/>
            <a:ext cx="1801368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CE6F2"/>
                </a:solidFill>
                <a:latin typeface="Aptos"/>
              </a:rPr>
              <a:t>Open BolPay to additional companies.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15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BolPay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◈  BolPay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465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